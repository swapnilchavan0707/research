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75" r:id="rId10"/>
    <p:sldId id="276" r:id="rId11"/>
    <p:sldId id="268" r:id="rId12"/>
    <p:sldId id="269" r:id="rId13"/>
    <p:sldId id="270" r:id="rId14"/>
    <p:sldId id="263" r:id="rId15"/>
    <p:sldId id="271" r:id="rId16"/>
    <p:sldId id="272" r:id="rId17"/>
    <p:sldId id="273" r:id="rId18"/>
    <p:sldId id="264" r:id="rId19"/>
    <p:sldId id="274" r:id="rId20"/>
    <p:sldId id="265" r:id="rId21"/>
    <p:sldId id="26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003399"/>
    <a:srgbClr val="66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4578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7291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8368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6438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1772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521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2607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136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7680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6613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0803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2888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074109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332129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0118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03500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7718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1CCA64-9777-473B-AB7D-CEE9B49CA48D}" type="datetimeFigureOut">
              <a:rPr lang="en-IN" smtClean="0"/>
              <a:t>11-08-2025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5A99F1-D62E-45AD-95B9-E9D9276BF92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29525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  <p:sldLayoutId id="2147483727" r:id="rId14"/>
    <p:sldLayoutId id="2147483728" r:id="rId15"/>
    <p:sldLayoutId id="2147483729" r:id="rId16"/>
    <p:sldLayoutId id="214748373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jp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D5EEFD6-D3AB-670A-355B-718C5F512B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1559643"/>
            <a:ext cx="10058400" cy="5153325"/>
          </a:xfrm>
        </p:spPr>
        <p:txBody>
          <a:bodyPr>
            <a:normAutofit/>
          </a:bodyPr>
          <a:lstStyle/>
          <a:p>
            <a:r>
              <a:rPr lang="en-US" sz="2400" b="1" cap="none" dirty="0">
                <a:solidFill>
                  <a:srgbClr val="003366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Unified Mentor, Gurugram, Haryana</a:t>
            </a:r>
          </a:p>
          <a:p>
            <a:r>
              <a:rPr lang="en-US" sz="2400" b="1" cap="none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sz="2400" b="1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issertation Project Report</a:t>
            </a:r>
          </a:p>
          <a:p>
            <a:r>
              <a:rPr lang="en-US" sz="2400" b="1" cap="none" dirty="0"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</a:p>
          <a:p>
            <a:r>
              <a:rPr lang="en-US" sz="2800" b="1" dirty="0">
                <a:solidFill>
                  <a:srgbClr val="003366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Daily Transactions</a:t>
            </a:r>
          </a:p>
          <a:p>
            <a:endParaRPr lang="en-US" b="1" dirty="0">
              <a:solidFill>
                <a:srgbClr val="003366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solidFill>
                  <a:srgbClr val="003366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400" b="1" dirty="0">
                <a:solidFill>
                  <a:srgbClr val="003366"/>
                </a:solidFill>
                <a:effectLst>
                  <a:outerShdw blurRad="50800" dist="38100" dir="10800000" algn="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Swapnil Prabhakar Chavan</a:t>
            </a:r>
          </a:p>
          <a:p>
            <a:endParaRPr lang="en-US" b="1" dirty="0">
              <a:solidFill>
                <a:srgbClr val="003366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cap="none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b="1" cap="none" dirty="0"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cap="none" dirty="0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cap="none" dirty="0">
              <a:solidFill>
                <a:schemeClr val="tx1"/>
              </a:solidFill>
              <a:effectLst>
                <a:outerShdw blurRad="50800" dist="38100" dir="10800000" algn="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D366DFA-CC2C-3059-05C6-63D437DF50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240" y="145032"/>
            <a:ext cx="1239520" cy="1206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44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0D3CA-F521-00D8-B114-DD2655B7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6981E8-93E4-39B4-20F4-54DA4AAD6B04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noFill/>
          </a:ln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household transactions to find patterns in spending and income.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Importance: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budgeting, cost optimization, and financial planning.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transactions from a household finance dataset.</a:t>
            </a:r>
            <a:endParaRPr 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5865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3E00-CDF6-8D5D-15A9-AF9DD96A1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43E748-5E59-FA66-D949-3D1CE871EB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File: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Daily Household Transactions.csv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Rows: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~2,461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Columns: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Date, Mode, Category, Subcategory, Amount, Income/Expense, Currency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 of income and expense transactions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values in Subcategory and Note columns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2924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AFCDB63-8799-AB62-8B76-7870507A5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5633" y="1783080"/>
            <a:ext cx="8560733" cy="329184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25706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B6958E3-81A4-5FFA-DB93-52C1C0615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Tools &amp; Libraries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79C0C17-4A62-CFBA-43A2-ECE855A4D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Tools: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3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Jupyter Notebook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data cleaning &amp; manipulation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numerical calculations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plotting and graphs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Seaborn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Used for advanced data visualization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12DB78-8645-99D4-AEF7-48C7ADA30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3385" y="2556932"/>
            <a:ext cx="933030" cy="9765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BCDB68C-8AE6-4F33-CF49-330925D392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7170" y="4002303"/>
            <a:ext cx="933029" cy="95390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0800162-FC9B-FE42-45DA-942CF7632EF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0666" y="4002303"/>
            <a:ext cx="946780" cy="967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1FA1A18-D6C2-352D-2D70-9E9D116F317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368" y="4002302"/>
            <a:ext cx="933030" cy="9539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C5D24AD-124B-A576-0D28-8CC63ECB3D9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3567" y="3988244"/>
            <a:ext cx="933030" cy="96796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FAE9DBE9-35FF-BB1F-615E-8E87A766B22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55368" y="2556932"/>
            <a:ext cx="933030" cy="97654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296983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739B7-B469-FD2A-66F6-7E294384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56202E-A3E7-F36D-CC88-7889239C0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Removed duplicates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Handled missing values with fill or drop methods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Standardized text (lowercase, trimmed spaces)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 Amount to numeric values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new columns: Year, Month, Weekday, Signed Amount</a:t>
            </a:r>
          </a:p>
          <a:p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86874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6C80F-97D5-A3DA-9721-C0BC7690D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Exploratory Data Analysis (EDA)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77041-0BF2-226B-B97D-7A9801CF6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count by category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 amount distribution (income positive, expense negative)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used payment modes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transaction size</a:t>
            </a:r>
          </a:p>
        </p:txBody>
      </p:sp>
    </p:spTree>
    <p:extLst>
      <p:ext uri="{BB962C8B-B14F-4D97-AF65-F5344CB8AC3E}">
        <p14:creationId xmlns:p14="http://schemas.microsoft.com/office/powerpoint/2010/main" val="1905067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171F961-ED1D-8CA9-7967-7FBDAC27A9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80" y="701040"/>
            <a:ext cx="10414000" cy="541528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6033858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CA89B5-D063-8C72-0EEC-F6E9F2F88A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0" y="690880"/>
            <a:ext cx="10525760" cy="547623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658692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A2EE580-7072-E205-6710-F5ABC0002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440" y="711200"/>
            <a:ext cx="10485120" cy="54457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7881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A2AD5-69E7-5B06-DE89-7C6FAC9A6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Time Series Trends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24C6D3-3EB7-79E4-90E0-D2D575ED2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net balance trend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Rolling 7-day spending average</a:t>
            </a:r>
          </a:p>
          <a:p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Seasonal peaks in expenses</a:t>
            </a:r>
          </a:p>
        </p:txBody>
      </p:sp>
    </p:spTree>
    <p:extLst>
      <p:ext uri="{BB962C8B-B14F-4D97-AF65-F5344CB8AC3E}">
        <p14:creationId xmlns:p14="http://schemas.microsoft.com/office/powerpoint/2010/main" val="17757935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98F76FE-D2DA-4C11-BA3F-26E070CAD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690880"/>
            <a:ext cx="10546080" cy="544576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74041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A93433-71F1-DEE8-D2E2-92CF82127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701040"/>
            <a:ext cx="10556240" cy="54762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461033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1666C-C12A-6286-2DBC-94C52AAB5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Category &amp; Mode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3AF2CE-88B9-DD9B-4437-32293B053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expense categories share of spending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 between payment mode and spending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Variations in transaction amounts by category</a:t>
            </a:r>
          </a:p>
        </p:txBody>
      </p:sp>
    </p:spTree>
    <p:extLst>
      <p:ext uri="{BB962C8B-B14F-4D97-AF65-F5344CB8AC3E}">
        <p14:creationId xmlns:p14="http://schemas.microsoft.com/office/powerpoint/2010/main" val="10111280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EE9950-5D37-CE9A-5045-1ED800D976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960" y="680720"/>
            <a:ext cx="10556240" cy="552704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915469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C6DCE5-D026-1271-74AC-B0D4AB20AF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120" y="680720"/>
            <a:ext cx="10546080" cy="55067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962356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77E313-48ED-0C62-991F-F83D027C76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90880"/>
            <a:ext cx="10586720" cy="548640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19408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4B08-D0EA-5EF5-10EF-4693E0817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Correlation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B4264-F21D-2B04-2F44-2D8B6C0DB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Correlation between monthly category spends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positive/negative relationships help spot related expense habits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59592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12AD39-9132-F1F4-6631-9C8EDCD10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800" y="680720"/>
            <a:ext cx="10576560" cy="55067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5599434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71BDC-A6B4-0C0A-CA12-8EC6FB6AC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C571C-1625-8248-B9BB-9D4C44A8AB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Summary: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Spending dominated by a few categories, seasonal peaks, clear mode preferences</a:t>
            </a:r>
          </a:p>
          <a:p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Recommendations: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discretionary spending in top expense categories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 budget limits for high-expense months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 more cost-efficient payment modes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63745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1C4E846-3934-BA3B-0673-6111B0DAC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3868" y="2997200"/>
            <a:ext cx="9592732" cy="1107440"/>
          </a:xfrm>
        </p:spPr>
        <p:txBody>
          <a:bodyPr/>
          <a:lstStyle/>
          <a:p>
            <a:r>
              <a:rPr lang="en-US" b="1" dirty="0"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you!</a:t>
            </a:r>
            <a:endParaRPr lang="en-IN" b="1" dirty="0"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827817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169</TotalTime>
  <Words>298</Words>
  <Application>Microsoft Office PowerPoint</Application>
  <PresentationFormat>Widescreen</PresentationFormat>
  <Paragraphs>57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Garamond</vt:lpstr>
      <vt:lpstr>Times New Roman</vt:lpstr>
      <vt:lpstr>Wingdings</vt:lpstr>
      <vt:lpstr>Organic</vt:lpstr>
      <vt:lpstr>PowerPoint Presentation</vt:lpstr>
      <vt:lpstr>Introduction</vt:lpstr>
      <vt:lpstr>Dataset Overview</vt:lpstr>
      <vt:lpstr>PowerPoint Presentation</vt:lpstr>
      <vt:lpstr>Tools &amp; Libraries</vt:lpstr>
      <vt:lpstr>Data Cleaning Steps</vt:lpstr>
      <vt:lpstr>Exploratory Data Analysis (EDA)</vt:lpstr>
      <vt:lpstr>PowerPoint Presentation</vt:lpstr>
      <vt:lpstr>PowerPoint Presentation</vt:lpstr>
      <vt:lpstr>PowerPoint Presentation</vt:lpstr>
      <vt:lpstr>Time Series Trends</vt:lpstr>
      <vt:lpstr>PowerPoint Presentation</vt:lpstr>
      <vt:lpstr>PowerPoint Presentation</vt:lpstr>
      <vt:lpstr>Category &amp; Mode Analysis</vt:lpstr>
      <vt:lpstr>PowerPoint Presentation</vt:lpstr>
      <vt:lpstr>PowerPoint Presentation</vt:lpstr>
      <vt:lpstr>PowerPoint Presentation</vt:lpstr>
      <vt:lpstr>Correlation Analysis</vt:lpstr>
      <vt:lpstr>PowerPoint Presentation</vt:lpstr>
      <vt:lpstr>Conclusion &amp; Recommendations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Swapnil Chavan</dc:creator>
  <cp:lastModifiedBy>Swapnil Chavan</cp:lastModifiedBy>
  <cp:revision>1</cp:revision>
  <dcterms:created xsi:type="dcterms:W3CDTF">2025-08-11T11:49:38Z</dcterms:created>
  <dcterms:modified xsi:type="dcterms:W3CDTF">2025-08-11T14:38:44Z</dcterms:modified>
</cp:coreProperties>
</file>